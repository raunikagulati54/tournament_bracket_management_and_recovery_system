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Funnel Sans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9325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2E4E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80935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Tournament Bracket Management and Recovery System</a:t>
            </a:r>
            <a:endParaRPr lang="en-US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61475" y="3864769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DSA-Based Knockout Tournament Management System in C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4379813"/>
            <a:ext cx="1377221" cy="287139"/>
          </a:xfrm>
          <a:prstGeom prst="roundRect">
            <a:avLst>
              <a:gd name="adj" fmla="val 22118"/>
            </a:avLst>
          </a:prstGeom>
          <a:solidFill>
            <a:srgbClr val="E2E4E9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879" y="4447778"/>
            <a:ext cx="151206" cy="1512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1687" y="4436467"/>
            <a:ext cx="153318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BINARY TREE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2133150" y="4379813"/>
            <a:ext cx="899395" cy="287139"/>
          </a:xfrm>
          <a:prstGeom prst="roundRect">
            <a:avLst>
              <a:gd name="adj" fmla="val 22118"/>
            </a:avLst>
          </a:prstGeom>
          <a:solidFill>
            <a:srgbClr val="E2E4E9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6554" y="4447778"/>
            <a:ext cx="151206" cy="15120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473362" y="4436467"/>
            <a:ext cx="105536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STACK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3126999" y="4379813"/>
            <a:ext cx="1538646" cy="287139"/>
          </a:xfrm>
          <a:prstGeom prst="roundRect">
            <a:avLst>
              <a:gd name="adj" fmla="val 22118"/>
            </a:avLst>
          </a:prstGeom>
          <a:solidFill>
            <a:srgbClr val="E2E4E9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0403" y="4447778"/>
            <a:ext cx="151206" cy="15120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467212" y="4436467"/>
            <a:ext cx="169461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FILE HANDLING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661475" y="4761409"/>
            <a:ext cx="2546584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373B48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774879" y="4818063"/>
            <a:ext cx="292936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73B48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DSA PROJECT · C PROGRAMMING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867CE4-D07E-FA83-6A80-20D83FE7111B}"/>
              </a:ext>
            </a:extLst>
          </p:cNvPr>
          <p:cNvSpPr txBox="1"/>
          <p:nvPr/>
        </p:nvSpPr>
        <p:spPr>
          <a:xfrm>
            <a:off x="692600" y="5199659"/>
            <a:ext cx="26990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PRESENTED BY:</a:t>
            </a:r>
          </a:p>
          <a:p>
            <a:r>
              <a:rPr lang="en-US" dirty="0"/>
              <a:t>	HARDIK DUBEY</a:t>
            </a:r>
          </a:p>
          <a:p>
            <a:r>
              <a:rPr lang="en-US" dirty="0"/>
              <a:t>	NETIK SHARMA</a:t>
            </a:r>
          </a:p>
          <a:p>
            <a:r>
              <a:rPr lang="en-US" dirty="0"/>
              <a:t>	RAUNIKA GULATI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6391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73B48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Problem Statement</a:t>
            </a:r>
            <a:endParaRPr lang="en-US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25350" y="2638028"/>
            <a:ext cx="5476043" cy="2456061"/>
          </a:xfrm>
          <a:prstGeom prst="roundRect">
            <a:avLst>
              <a:gd name="adj" fmla="val 5541"/>
            </a:avLst>
          </a:prstGeom>
          <a:solidFill>
            <a:srgbClr val="FDC4C4">
              <a:alpha val="95000"/>
            </a:srgbClr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4357" y="2827040"/>
            <a:ext cx="509802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Noto Color Emoji" pitchFamily="34" charset="-122"/>
                <a:cs typeface="Times New Roman" panose="02020603050405020304" pitchFamily="18" charset="0"/>
              </a:rPr>
              <a:t>⚠</a:t>
            </a:r>
            <a:r>
              <a:rPr lang="en-US" sz="1850" dirty="0">
                <a:solidFill>
                  <a:srgbClr val="373B48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 Existing Challenges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14357" y="3317677"/>
            <a:ext cx="5098029" cy="1710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No automatic bracket updates after entering a result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No way to correct an accidentally entered match result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Tournament data is lost when the program closes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Manual tracking of winners and progression is error-prone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332776" y="2827040"/>
            <a:ext cx="520379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imes New Roman" panose="02020603050405020304" pitchFamily="18" charset="0"/>
                <a:ea typeface="Noto Color Emoji" pitchFamily="34" charset="-122"/>
                <a:cs typeface="Times New Roman" panose="02020603050405020304" pitchFamily="18" charset="0"/>
              </a:rPr>
              <a:t>✅</a:t>
            </a:r>
            <a:r>
              <a:rPr lang="en-US" sz="1850" dirty="0">
                <a:solidFill>
                  <a:srgbClr val="373B48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 Proposed Solution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332776" y="3317677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Build a C-based system that manages an </a:t>
            </a:r>
            <a:r>
              <a:rPr lang="en-US" sz="1450" b="1" dirty="0">
                <a:solidFill>
                  <a:srgbClr val="52586B"/>
                </a:solidFill>
                <a:latin typeface="Times New Roman" panose="02020603050405020304" pitchFamily="18" charset="0"/>
                <a:ea typeface="Funnel Sans Bold" pitchFamily="34" charset="-122"/>
                <a:cs typeface="Times New Roman" panose="02020603050405020304" pitchFamily="18" charset="0"/>
              </a:rPr>
              <a:t>8-team knockout tournament</a:t>
            </a:r>
            <a:r>
              <a:rPr lang="en-US" sz="145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 using DSA concepts — automatically advancing winners, supporting </a:t>
            </a:r>
            <a:r>
              <a:rPr lang="en-US" sz="1450" b="1" dirty="0">
                <a:solidFill>
                  <a:srgbClr val="52586B"/>
                </a:solidFill>
                <a:latin typeface="Times New Roman" panose="02020603050405020304" pitchFamily="18" charset="0"/>
                <a:ea typeface="Funnel Sans Bold" pitchFamily="34" charset="-122"/>
                <a:cs typeface="Times New Roman" panose="02020603050405020304" pitchFamily="18" charset="0"/>
              </a:rPr>
              <a:t>Undo</a:t>
            </a:r>
            <a:r>
              <a:rPr lang="en-US" sz="145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 via a Stack, and </a:t>
            </a:r>
            <a:r>
              <a:rPr lang="en-US" sz="1450" b="1" dirty="0">
                <a:solidFill>
                  <a:srgbClr val="52586B"/>
                </a:solidFill>
                <a:latin typeface="Times New Roman" panose="02020603050405020304" pitchFamily="18" charset="0"/>
                <a:ea typeface="Funnel Sans Bold" pitchFamily="34" charset="-122"/>
                <a:cs typeface="Times New Roman" panose="02020603050405020304" pitchFamily="18" charset="0"/>
              </a:rPr>
              <a:t>Recovery</a:t>
            </a:r>
            <a:r>
              <a:rPr lang="en-US" sz="145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 via file handling.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3884D1-FD4C-FBF8-8784-E360DCFD0681}"/>
              </a:ext>
            </a:extLst>
          </p:cNvPr>
          <p:cNvSpPr/>
          <p:nvPr/>
        </p:nvSpPr>
        <p:spPr>
          <a:xfrm>
            <a:off x="11056776" y="6531429"/>
            <a:ext cx="1135224" cy="326571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784"/>
            <a:ext cx="10868745" cy="32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373B48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How Our Model Works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550" y="970558"/>
            <a:ext cx="7064595" cy="31790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27759" y="1136347"/>
            <a:ext cx="1236273" cy="19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Quarterfinals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627759" y="1381739"/>
            <a:ext cx="1236273" cy="238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1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8 teams compete in four matches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850447" y="3520648"/>
            <a:ext cx="1243066" cy="19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Semifinals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850447" y="3766040"/>
            <a:ext cx="1243066" cy="238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1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4 winners play in two matches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059549" y="1112571"/>
            <a:ext cx="1236273" cy="19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Final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059549" y="1357964"/>
            <a:ext cx="1236273" cy="238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1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2 winners face off for the title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282237" y="3520648"/>
            <a:ext cx="1236273" cy="191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Champion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282237" y="3766040"/>
            <a:ext cx="1236273" cy="238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1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1 team crowned tournament winner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61475" y="4215904"/>
            <a:ext cx="11478330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The tournament advances from 8 teams through three rounds until one champion remains.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61475" y="4413746"/>
            <a:ext cx="5404905" cy="931267"/>
          </a:xfrm>
          <a:prstGeom prst="roundRect">
            <a:avLst>
              <a:gd name="adj" fmla="val 4762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73391" y="4525665"/>
            <a:ext cx="316698" cy="316706"/>
          </a:xfrm>
          <a:prstGeom prst="ellipse">
            <a:avLst/>
          </a:prstGeom>
          <a:solidFill>
            <a:srgbClr val="373B48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0503" y="4612680"/>
            <a:ext cx="142475" cy="14247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3391" y="4901307"/>
            <a:ext cx="5181074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Binary Tree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773391" y="5101530"/>
            <a:ext cx="518107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Represents match relationships and winner progression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6125315" y="4413746"/>
            <a:ext cx="5404905" cy="931267"/>
          </a:xfrm>
          <a:prstGeom prst="roundRect">
            <a:avLst>
              <a:gd name="adj" fmla="val 4762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6237231" y="4525665"/>
            <a:ext cx="316698" cy="316706"/>
          </a:xfrm>
          <a:prstGeom prst="ellipse">
            <a:avLst/>
          </a:prstGeom>
          <a:solidFill>
            <a:srgbClr val="373B48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4343" y="4612680"/>
            <a:ext cx="142475" cy="14247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37231" y="4901307"/>
            <a:ext cx="5181074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Stack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6237231" y="5101530"/>
            <a:ext cx="518107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Stores previous states for Undo functionality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661475" y="5403949"/>
            <a:ext cx="5404905" cy="931267"/>
          </a:xfrm>
          <a:prstGeom prst="roundRect">
            <a:avLst>
              <a:gd name="adj" fmla="val 4762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773391" y="5515868"/>
            <a:ext cx="316698" cy="316706"/>
          </a:xfrm>
          <a:prstGeom prst="ellipse">
            <a:avLst/>
          </a:prstGeom>
          <a:solidFill>
            <a:srgbClr val="373B48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0503" y="5602883"/>
            <a:ext cx="142475" cy="14247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73391" y="5891510"/>
            <a:ext cx="5181074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.dat File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773391" y="6091734"/>
            <a:ext cx="518107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Persists tournament data across program sessions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6125315" y="5403949"/>
            <a:ext cx="5404905" cy="931267"/>
          </a:xfrm>
          <a:prstGeom prst="roundRect">
            <a:avLst>
              <a:gd name="adj" fmla="val 4762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6237231" y="5515868"/>
            <a:ext cx="316698" cy="316706"/>
          </a:xfrm>
          <a:prstGeom prst="ellipse">
            <a:avLst/>
          </a:prstGeom>
          <a:solidFill>
            <a:srgbClr val="373B48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24343" y="5602883"/>
            <a:ext cx="142475" cy="14247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237231" y="5891510"/>
            <a:ext cx="5181074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C Structures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5"/>
          <p:cNvSpPr/>
          <p:nvPr/>
        </p:nvSpPr>
        <p:spPr>
          <a:xfrm>
            <a:off x="6237231" y="6091734"/>
            <a:ext cx="5181074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Dynamic memory holds match node information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EB34192-957F-E3A4-F8A5-DC5F9B396E7F}"/>
              </a:ext>
            </a:extLst>
          </p:cNvPr>
          <p:cNvSpPr/>
          <p:nvPr/>
        </p:nvSpPr>
        <p:spPr>
          <a:xfrm>
            <a:off x="11056776" y="6531429"/>
            <a:ext cx="1135224" cy="326571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402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373B48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Data Structures Used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165324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73B48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Tournament Binary Tree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75" y="1464568"/>
            <a:ext cx="527304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Each match is a node. Children are previous-round matches; the parent receives the winner.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427" y="1928713"/>
            <a:ext cx="3691044" cy="3691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63523" y="3073400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73B48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Undo Stack — LIFO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263523" y="3372644"/>
            <a:ext cx="527304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Before every result entry, the current state is pushed onto the stack. Undo pops the most recent state and restores it.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828209"/>
            <a:ext cx="3561170" cy="5092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8978" y="5979517"/>
            <a:ext cx="318236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TOS → State 3 (Latest)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5213" y="5828209"/>
            <a:ext cx="3561170" cy="50929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42716" y="5979517"/>
            <a:ext cx="318236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State 2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8951" y="5828209"/>
            <a:ext cx="3561170" cy="50929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96454" y="5979517"/>
            <a:ext cx="318236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Bottom → State 1 (Oldest)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D7571A-4825-0841-EEB3-2A1314F97C44}"/>
              </a:ext>
            </a:extLst>
          </p:cNvPr>
          <p:cNvSpPr/>
          <p:nvPr/>
        </p:nvSpPr>
        <p:spPr>
          <a:xfrm>
            <a:off x="11056776" y="6531429"/>
            <a:ext cx="1135224" cy="326571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5703"/>
            <a:ext cx="10868745" cy="365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373B48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Algorithm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092895"/>
            <a:ext cx="529160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373B48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Step-by-Step Flow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75" y="1357313"/>
            <a:ext cx="234150" cy="1463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Times New Roman" panose="02020603050405020304" pitchFamily="18" charset="0"/>
                <a:ea typeface="Mona Sans Light" pitchFamily="34" charset="-122"/>
                <a:cs typeface="Times New Roman" panose="02020603050405020304" pitchFamily="18" charset="0"/>
              </a:rPr>
              <a:t>01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61475" y="1543645"/>
            <a:ext cx="5291600" cy="12700"/>
          </a:xfrm>
          <a:prstGeom prst="rect">
            <a:avLst/>
          </a:prstGeom>
          <a:solidFill>
            <a:srgbClr val="373B48"/>
          </a:solidFill>
          <a:ln/>
        </p:spPr>
        <p:txBody>
          <a:bodyPr/>
          <a:lstStyle/>
          <a:p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61475" y="1627584"/>
            <a:ext cx="529160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Initialize the tournament tree and undo stack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61475" y="1970782"/>
            <a:ext cx="234150" cy="1463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Times New Roman" panose="02020603050405020304" pitchFamily="18" charset="0"/>
                <a:ea typeface="Mona Sans Light" pitchFamily="34" charset="-122"/>
                <a:cs typeface="Times New Roman" panose="02020603050405020304" pitchFamily="18" charset="0"/>
              </a:rPr>
              <a:t>02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61475" y="2157115"/>
            <a:ext cx="5291600" cy="12700"/>
          </a:xfrm>
          <a:prstGeom prst="rect">
            <a:avLst/>
          </a:prstGeom>
          <a:solidFill>
            <a:srgbClr val="373B48"/>
          </a:solidFill>
          <a:ln/>
        </p:spPr>
        <p:txBody>
          <a:bodyPr/>
          <a:lstStyle/>
          <a:p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61475" y="2241054"/>
            <a:ext cx="5291600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Load saved data from </a:t>
            </a:r>
            <a:r>
              <a:rPr lang="en-US" dirty="0">
                <a:solidFill>
                  <a:srgbClr val="52586B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tournament.dat</a:t>
            </a:r>
            <a:r>
              <a:rPr lang="en-US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 if available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61475" y="2603302"/>
            <a:ext cx="234150" cy="1463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Times New Roman" panose="02020603050405020304" pitchFamily="18" charset="0"/>
                <a:ea typeface="Mona Sans Light" pitchFamily="34" charset="-122"/>
                <a:cs typeface="Times New Roman" panose="02020603050405020304" pitchFamily="18" charset="0"/>
              </a:rPr>
              <a:t>03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61475" y="2789634"/>
            <a:ext cx="5291600" cy="12700"/>
          </a:xfrm>
          <a:prstGeom prst="rect">
            <a:avLst/>
          </a:prstGeom>
          <a:solidFill>
            <a:srgbClr val="373B48"/>
          </a:solidFill>
          <a:ln/>
        </p:spPr>
        <p:txBody>
          <a:bodyPr/>
          <a:lstStyle/>
          <a:p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1475" y="2873573"/>
            <a:ext cx="529160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Display menu; read user choice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61475" y="3216771"/>
            <a:ext cx="234150" cy="1463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Times New Roman" panose="02020603050405020304" pitchFamily="18" charset="0"/>
                <a:ea typeface="Mona Sans Light" pitchFamily="34" charset="-122"/>
                <a:cs typeface="Times New Roman" panose="02020603050405020304" pitchFamily="18" charset="0"/>
              </a:rPr>
              <a:t>04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61475" y="3403104"/>
            <a:ext cx="5291600" cy="12700"/>
          </a:xfrm>
          <a:prstGeom prst="rect">
            <a:avLst/>
          </a:prstGeom>
          <a:solidFill>
            <a:srgbClr val="373B48"/>
          </a:solidFill>
          <a:ln/>
        </p:spPr>
        <p:txBody>
          <a:bodyPr/>
          <a:lstStyle/>
          <a:p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1475" y="3487043"/>
            <a:ext cx="529160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Before a result: push current state to stack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61475" y="3830241"/>
            <a:ext cx="234150" cy="1463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Times New Roman" panose="02020603050405020304" pitchFamily="18" charset="0"/>
                <a:ea typeface="Mona Sans Light" pitchFamily="34" charset="-122"/>
                <a:cs typeface="Times New Roman" panose="02020603050405020304" pitchFamily="18" charset="0"/>
              </a:rPr>
              <a:t>05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61475" y="4016573"/>
            <a:ext cx="5291600" cy="12700"/>
          </a:xfrm>
          <a:prstGeom prst="rect">
            <a:avLst/>
          </a:prstGeom>
          <a:solidFill>
            <a:srgbClr val="373B48"/>
          </a:solidFill>
          <a:ln/>
        </p:spPr>
        <p:txBody>
          <a:bodyPr/>
          <a:lstStyle/>
          <a:p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61475" y="4100513"/>
            <a:ext cx="529160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Record winner; update parent match node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1475" y="4443710"/>
            <a:ext cx="234150" cy="1463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Times New Roman" panose="02020603050405020304" pitchFamily="18" charset="0"/>
                <a:ea typeface="Mona Sans Light" pitchFamily="34" charset="-122"/>
                <a:cs typeface="Times New Roman" panose="02020603050405020304" pitchFamily="18" charset="0"/>
              </a:rPr>
              <a:t>06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61475" y="4630043"/>
            <a:ext cx="5291600" cy="12700"/>
          </a:xfrm>
          <a:prstGeom prst="rect">
            <a:avLst/>
          </a:prstGeom>
          <a:solidFill>
            <a:srgbClr val="373B48"/>
          </a:solidFill>
          <a:ln/>
        </p:spPr>
        <p:txBody>
          <a:bodyPr/>
          <a:lstStyle/>
          <a:p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61475" y="4713982"/>
            <a:ext cx="5291600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Save updated tree to </a:t>
            </a:r>
            <a:r>
              <a:rPr lang="en-US" dirty="0">
                <a:solidFill>
                  <a:srgbClr val="52586B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tournament.dat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61475" y="5076230"/>
            <a:ext cx="234150" cy="1463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Times New Roman" panose="02020603050405020304" pitchFamily="18" charset="0"/>
                <a:ea typeface="Mona Sans Light" pitchFamily="34" charset="-122"/>
                <a:cs typeface="Times New Roman" panose="02020603050405020304" pitchFamily="18" charset="0"/>
              </a:rPr>
              <a:t>07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61475" y="5262563"/>
            <a:ext cx="5291600" cy="12700"/>
          </a:xfrm>
          <a:prstGeom prst="rect">
            <a:avLst/>
          </a:prstGeom>
          <a:solidFill>
            <a:srgbClr val="373B48"/>
          </a:solidFill>
          <a:ln/>
        </p:spPr>
        <p:txBody>
          <a:bodyPr/>
          <a:lstStyle/>
          <a:p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61475" y="5346502"/>
            <a:ext cx="529160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Undo → pop from stack; Recover → read from file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61475" y="5689699"/>
            <a:ext cx="234150" cy="1463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Times New Roman" panose="02020603050405020304" pitchFamily="18" charset="0"/>
                <a:ea typeface="Mona Sans Light" pitchFamily="34" charset="-122"/>
                <a:cs typeface="Times New Roman" panose="02020603050405020304" pitchFamily="18" charset="0"/>
              </a:rPr>
              <a:t>08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61475" y="5876032"/>
            <a:ext cx="5291600" cy="12700"/>
          </a:xfrm>
          <a:prstGeom prst="rect">
            <a:avLst/>
          </a:prstGeom>
          <a:solidFill>
            <a:srgbClr val="373B48"/>
          </a:solidFill>
          <a:ln/>
        </p:spPr>
        <p:txBody>
          <a:bodyPr/>
          <a:lstStyle/>
          <a:p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61475" y="5959971"/>
            <a:ext cx="529160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When Final is complete, display Champion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388" y="1444268"/>
            <a:ext cx="4771827" cy="4771946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C4E30B2C-95AA-6EE3-4FDD-B474AA8FB9C0}"/>
              </a:ext>
            </a:extLst>
          </p:cNvPr>
          <p:cNvSpPr/>
          <p:nvPr/>
        </p:nvSpPr>
        <p:spPr>
          <a:xfrm>
            <a:off x="11056776" y="6531429"/>
            <a:ext cx="1135224" cy="326571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7588"/>
            <a:ext cx="10868745" cy="3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373B48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Pseudocode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61475" y="1016099"/>
            <a:ext cx="10868745" cy="5294313"/>
          </a:xfrm>
          <a:prstGeom prst="roundRect">
            <a:avLst>
              <a:gd name="adj" fmla="val 86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92738" y="1125438"/>
            <a:ext cx="10606219" cy="5075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
 Initialize Tournament Tree
 Initialize Undo Stack
 IF saved tournament exists
 Recover tournament data from file
 END IF
 REPEAT
 Display Menu
 Read user choice
 IF choice = Display Bracket
 Print tournament tree
 ELSE IF choice = Enter Result
 Push current state to Stack
 Record match winner
 Update parent match node
 Save tree to tournament.dat
 ELSE IF choice = Undo
 Pop previous state from Stack
 Restore tournament
 ELSE IF choice = Recover
 Load tournament from tournament.dat
 ELSE IF choice = Champion
 Display champion team
 UNTIL choice = Exit
END
</a:t>
            </a:r>
            <a:endParaRPr lang="en-US" sz="8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018F32-F0A0-7399-6102-A7783399633D}"/>
              </a:ext>
            </a:extLst>
          </p:cNvPr>
          <p:cNvSpPr/>
          <p:nvPr/>
        </p:nvSpPr>
        <p:spPr>
          <a:xfrm>
            <a:off x="11056776" y="6531429"/>
            <a:ext cx="1135224" cy="326571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4392"/>
            <a:ext cx="10868745" cy="3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373B48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Complete Project Menu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034554"/>
            <a:ext cx="5300927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73B48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System Menu Options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276747"/>
            <a:ext cx="5300927" cy="6565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7720" y="1502470"/>
            <a:ext cx="164104" cy="205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75117" y="1398786"/>
            <a:ext cx="4665248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Create / Setup Tournament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75117" y="1633041"/>
            <a:ext cx="4665248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Initialize 8-team bracket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96579"/>
            <a:ext cx="5300927" cy="6565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7720" y="2222302"/>
            <a:ext cx="164104" cy="205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1175117" y="2118618"/>
            <a:ext cx="4665248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Display Tournament Bracket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175117" y="2352873"/>
            <a:ext cx="4665248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Visualize full tree structure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716411"/>
            <a:ext cx="5300927" cy="6565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7720" y="2942134"/>
            <a:ext cx="164104" cy="205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1175117" y="2838450"/>
            <a:ext cx="4665248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Enter Match Result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1175117" y="3072705"/>
            <a:ext cx="4665248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Record winner, advance to parent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436243"/>
            <a:ext cx="5300927" cy="65653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7720" y="3661966"/>
            <a:ext cx="164104" cy="205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1175117" y="3558282"/>
            <a:ext cx="4665248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Undo Last Result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1175117" y="3792538"/>
            <a:ext cx="4665248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Restore previous state from stack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156075"/>
            <a:ext cx="5300927" cy="65653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07720" y="4381798"/>
            <a:ext cx="164104" cy="205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1175117" y="4278114"/>
            <a:ext cx="4665248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Recover Tournament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1175117" y="4512370"/>
            <a:ext cx="4665248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Reload data from tournament.dat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875907"/>
            <a:ext cx="5300927" cy="65653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07720" y="5101630"/>
            <a:ext cx="164104" cy="205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8"/>
          <p:cNvSpPr/>
          <p:nvPr/>
        </p:nvSpPr>
        <p:spPr>
          <a:xfrm>
            <a:off x="1175117" y="4997946"/>
            <a:ext cx="4665248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Show Champion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1175117" y="5232202"/>
            <a:ext cx="4665248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Display the final winner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595739"/>
            <a:ext cx="5300927" cy="65653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07720" y="5821462"/>
            <a:ext cx="164104" cy="2050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1"/>
          <p:cNvSpPr/>
          <p:nvPr/>
        </p:nvSpPr>
        <p:spPr>
          <a:xfrm>
            <a:off x="1175117" y="5717778"/>
            <a:ext cx="4665248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Exit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2"/>
          <p:cNvSpPr/>
          <p:nvPr/>
        </p:nvSpPr>
        <p:spPr>
          <a:xfrm>
            <a:off x="1175117" y="5952034"/>
            <a:ext cx="4665248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Save and close program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3510" y="1261374"/>
            <a:ext cx="4990770" cy="4990895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2D8D812-8CE0-44BB-8060-4E49CF248A89}"/>
              </a:ext>
            </a:extLst>
          </p:cNvPr>
          <p:cNvSpPr/>
          <p:nvPr/>
        </p:nvSpPr>
        <p:spPr>
          <a:xfrm>
            <a:off x="11056776" y="6531429"/>
            <a:ext cx="1135224" cy="326571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920"/>
            <a:ext cx="10868745" cy="486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373B48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Complete System Architecture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337568"/>
            <a:ext cx="5244572" cy="243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73B48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8-Team Bracket Visualization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768" y="1724918"/>
            <a:ext cx="4457886" cy="44579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91998" y="2460526"/>
            <a:ext cx="5244572" cy="243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73B48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Architecture Overview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291998" y="2847876"/>
            <a:ext cx="2558192" cy="1155502"/>
          </a:xfrm>
          <a:prstGeom prst="roundRect">
            <a:avLst>
              <a:gd name="adj" fmla="val 5657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53919" y="3009801"/>
            <a:ext cx="2234350" cy="249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Noto Color Emoji" pitchFamily="34" charset="-122"/>
                <a:cs typeface="Times New Roman" panose="02020603050405020304" pitchFamily="18" charset="0"/>
              </a:rPr>
              <a:t>🌲</a:t>
            </a:r>
            <a:r>
              <a:rPr lang="en-US" sz="1600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 Binary Tree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53919" y="3387427"/>
            <a:ext cx="2234350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Manages bracket structure and winner flow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978279" y="2847876"/>
            <a:ext cx="2558291" cy="1155502"/>
          </a:xfrm>
          <a:prstGeom prst="roundRect">
            <a:avLst>
              <a:gd name="adj" fmla="val 5657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140199" y="3009801"/>
            <a:ext cx="2234450" cy="249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Noto Color Emoji" pitchFamily="34" charset="-122"/>
                <a:cs typeface="Times New Roman" panose="02020603050405020304" pitchFamily="18" charset="0"/>
              </a:rPr>
              <a:t>📚</a:t>
            </a:r>
            <a:r>
              <a:rPr lang="en-US" sz="1600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 Stack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140199" y="3387427"/>
            <a:ext cx="2234450" cy="227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Tracks state history for Undo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291998" y="4131469"/>
            <a:ext cx="2558192" cy="928489"/>
          </a:xfrm>
          <a:prstGeom prst="roundRect">
            <a:avLst>
              <a:gd name="adj" fmla="val 7041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453919" y="4293394"/>
            <a:ext cx="2234350" cy="249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Noto Color Emoji" pitchFamily="34" charset="-122"/>
                <a:cs typeface="Times New Roman" panose="02020603050405020304" pitchFamily="18" charset="0"/>
              </a:rPr>
              <a:t>📁</a:t>
            </a:r>
            <a:r>
              <a:rPr lang="en-US" sz="1600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 .dat File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453919" y="4671020"/>
            <a:ext cx="2234350" cy="227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Persists data between sessions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978279" y="4131469"/>
            <a:ext cx="2558291" cy="928489"/>
          </a:xfrm>
          <a:prstGeom prst="roundRect">
            <a:avLst>
              <a:gd name="adj" fmla="val 7041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140199" y="4293394"/>
            <a:ext cx="2234450" cy="249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Noto Color Emoji" pitchFamily="34" charset="-122"/>
                <a:cs typeface="Times New Roman" panose="02020603050405020304" pitchFamily="18" charset="0"/>
              </a:rPr>
              <a:t>🏆</a:t>
            </a:r>
            <a:r>
              <a:rPr lang="en-US" sz="1600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 Champion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140199" y="4671020"/>
            <a:ext cx="2234450" cy="227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40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Root node after Final match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1C71D3-6827-9B71-2A13-6552BF529BF3}"/>
              </a:ext>
            </a:extLst>
          </p:cNvPr>
          <p:cNvSpPr/>
          <p:nvPr/>
        </p:nvSpPr>
        <p:spPr>
          <a:xfrm>
            <a:off x="11056776" y="6531429"/>
            <a:ext cx="1135224" cy="326571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75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dirty="0">
                <a:solidFill>
                  <a:srgbClr val="373B48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Recovery and Undo Mechanism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25350" y="1451868"/>
            <a:ext cx="5476043" cy="4828282"/>
          </a:xfrm>
          <a:prstGeom prst="roundRect">
            <a:avLst>
              <a:gd name="adj" fmla="val 2819"/>
            </a:avLst>
          </a:prstGeom>
          <a:solidFill>
            <a:srgbClr val="FDC4C4">
              <a:alpha val="95000"/>
            </a:srgbClr>
          </a:solidFill>
          <a:ln/>
        </p:spPr>
        <p:txBody>
          <a:bodyPr/>
          <a:lstStyle/>
          <a:p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4357" y="1640880"/>
            <a:ext cx="509802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Noto Color Emoji" pitchFamily="34" charset="-122"/>
                <a:cs typeface="Times New Roman" panose="02020603050405020304" pitchFamily="18" charset="0"/>
              </a:rPr>
              <a:t>↩</a:t>
            </a:r>
            <a:r>
              <a:rPr lang="en-US" sz="2000" dirty="0">
                <a:solidFill>
                  <a:srgbClr val="373B48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 Undo — Stack (Temporary)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5198" y="2164556"/>
            <a:ext cx="283461" cy="2834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8605" y="2155130"/>
            <a:ext cx="448378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Save current state before any change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5198" y="3119041"/>
            <a:ext cx="283461" cy="2834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8605" y="3109615"/>
            <a:ext cx="448378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Push snapshot onto the stack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5198" y="4073525"/>
            <a:ext cx="283461" cy="2834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8605" y="4064099"/>
            <a:ext cx="448378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User selects Undo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5198" y="5028009"/>
            <a:ext cx="283461" cy="2834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28605" y="5018584"/>
            <a:ext cx="448378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Pop top state; restore bracket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714357" y="5807670"/>
            <a:ext cx="570761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Funnel Sans Bold" pitchFamily="34" charset="-122"/>
                <a:cs typeface="Times New Roman" panose="02020603050405020304" pitchFamily="18" charset="0"/>
              </a:rPr>
              <a:t>Stack = volatile, in-memory history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6332776" y="1640880"/>
            <a:ext cx="520379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Noto Color Emoji" pitchFamily="34" charset="-122"/>
                <a:cs typeface="Times New Roman" panose="02020603050405020304" pitchFamily="18" charset="0"/>
              </a:rPr>
              <a:t>💾</a:t>
            </a:r>
            <a:r>
              <a:rPr lang="en-US" sz="2000" dirty="0">
                <a:solidFill>
                  <a:srgbClr val="373B48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 Recovery — File (Persistent)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3616" y="2164556"/>
            <a:ext cx="283461" cy="2834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47024" y="2155130"/>
            <a:ext cx="45895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After each update, write tree to </a:t>
            </a:r>
            <a:r>
              <a:rPr lang="en-US" sz="1600" dirty="0">
                <a:solidFill>
                  <a:srgbClr val="52586B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tournament.dat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3616" y="3119041"/>
            <a:ext cx="283461" cy="2834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947024" y="3109615"/>
            <a:ext cx="45895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Program closes; data is preserved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3616" y="4073525"/>
            <a:ext cx="283461" cy="28346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947024" y="4064099"/>
            <a:ext cx="45895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On restart, check for saved file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3616" y="5028009"/>
            <a:ext cx="283461" cy="283468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947024" y="5018584"/>
            <a:ext cx="45895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Read and restore full tournament state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6332776" y="5807670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52586B"/>
                </a:solidFill>
                <a:latin typeface="Times New Roman" panose="02020603050405020304" pitchFamily="18" charset="0"/>
                <a:ea typeface="Funnel Sans Bold" pitchFamily="34" charset="-122"/>
                <a:cs typeface="Times New Roman" panose="02020603050405020304" pitchFamily="18" charset="0"/>
              </a:rPr>
              <a:t>.dat file = permanent storage across sessions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B023540-1EE4-75E1-9BE3-78AD9D732802}"/>
              </a:ext>
            </a:extLst>
          </p:cNvPr>
          <p:cNvSpPr/>
          <p:nvPr/>
        </p:nvSpPr>
        <p:spPr>
          <a:xfrm>
            <a:off x="11056776" y="6531429"/>
            <a:ext cx="1135224" cy="326571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2E4E9"/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77652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373B48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Conclusion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61475" y="1284486"/>
            <a:ext cx="6296860" cy="910927"/>
          </a:xfrm>
          <a:prstGeom prst="roundRect">
            <a:avLst>
              <a:gd name="adj" fmla="val 7408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28456" y="1451471"/>
            <a:ext cx="5962898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Noto Color Emoji" pitchFamily="34" charset="-122"/>
                <a:cs typeface="Times New Roman" panose="02020603050405020304" pitchFamily="18" charset="0"/>
              </a:rPr>
              <a:t>🌲</a:t>
            </a:r>
            <a:r>
              <a:rPr lang="en-US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 Binary Tree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28456" y="1790700"/>
            <a:ext cx="596289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Models the full 8-team knockout bracket with automatic winner progression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61475" y="2331938"/>
            <a:ext cx="6296860" cy="910927"/>
          </a:xfrm>
          <a:prstGeom prst="roundRect">
            <a:avLst>
              <a:gd name="adj" fmla="val 7408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28456" y="2498923"/>
            <a:ext cx="5962898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Noto Color Emoji" pitchFamily="34" charset="-122"/>
                <a:cs typeface="Times New Roman" panose="02020603050405020304" pitchFamily="18" charset="0"/>
              </a:rPr>
              <a:t>📚</a:t>
            </a:r>
            <a:r>
              <a:rPr lang="en-US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 Stack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28456" y="2838152"/>
            <a:ext cx="596289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Provides reliable Undo functionality using LIFO state restoration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61475" y="3379391"/>
            <a:ext cx="6296860" cy="910927"/>
          </a:xfrm>
          <a:prstGeom prst="roundRect">
            <a:avLst>
              <a:gd name="adj" fmla="val 7408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28456" y="3546376"/>
            <a:ext cx="5962898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Noto Color Emoji" pitchFamily="34" charset="-122"/>
                <a:cs typeface="Times New Roman" panose="02020603050405020304" pitchFamily="18" charset="0"/>
              </a:rPr>
              <a:t>📁</a:t>
            </a:r>
            <a:r>
              <a:rPr lang="en-US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 File Handling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28456" y="3885605"/>
            <a:ext cx="596289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Ensures tournament data survives program restarts via </a:t>
            </a:r>
            <a:r>
              <a:rPr lang="en-US" sz="1600" dirty="0">
                <a:solidFill>
                  <a:srgbClr val="52586B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tournament.dat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61475" y="4426843"/>
            <a:ext cx="6296860" cy="1148655"/>
          </a:xfrm>
          <a:prstGeom prst="roundRect">
            <a:avLst>
              <a:gd name="adj" fmla="val 5875"/>
            </a:avLst>
          </a:prstGeom>
          <a:solidFill>
            <a:srgbClr val="E2E4E9"/>
          </a:solidFill>
          <a:ln w="6350">
            <a:solidFill>
              <a:srgbClr val="C8CACF"/>
            </a:solidFill>
            <a:prstDash val="solid"/>
          </a:ln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28456" y="4593828"/>
            <a:ext cx="5962898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Noto Color Emoji" pitchFamily="34" charset="-122"/>
                <a:cs typeface="Times New Roman" panose="02020603050405020304" pitchFamily="18" charset="0"/>
              </a:rPr>
              <a:t>✅</a:t>
            </a:r>
            <a:r>
              <a:rPr lang="en-US" dirty="0">
                <a:solidFill>
                  <a:srgbClr val="52586B"/>
                </a:solidFill>
                <a:latin typeface="Times New Roman" panose="02020603050405020304" pitchFamily="18" charset="0"/>
                <a:ea typeface="Mona Sans SemiBold" pitchFamily="34" charset="-122"/>
                <a:cs typeface="Times New Roman" panose="02020603050405020304" pitchFamily="18" charset="0"/>
              </a:rPr>
              <a:t> DSA in Practice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28456" y="4933057"/>
            <a:ext cx="596289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60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Reduces manual errors and demonstrates real-world application of core DSA concepts in C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02471" y="5882680"/>
            <a:ext cx="6665448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600" b="1" dirty="0">
                <a:solidFill>
                  <a:srgbClr val="52586B"/>
                </a:solidFill>
                <a:latin typeface="Times New Roman" panose="02020603050405020304" pitchFamily="18" charset="0"/>
                <a:ea typeface="Funnel Sans Bold" pitchFamily="34" charset="-122"/>
                <a:cs typeface="Times New Roman" panose="02020603050405020304" pitchFamily="18" charset="0"/>
              </a:rPr>
              <a:t>DSA in Action:</a:t>
            </a:r>
            <a:r>
              <a:rPr lang="en-US" sz="1600" dirty="0">
                <a:solidFill>
                  <a:srgbClr val="52586B"/>
                </a:solidFill>
                <a:latin typeface="Times New Roman" panose="02020603050405020304" pitchFamily="18" charset="0"/>
                <a:ea typeface="Funnel Sans" pitchFamily="34" charset="-122"/>
                <a:cs typeface="Times New Roman" panose="02020603050405020304" pitchFamily="18" charset="0"/>
              </a:rPr>
              <a:t> Manage → Update → Undo → Recover → Champion 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Noto Color Emoji" pitchFamily="34" charset="-122"/>
                <a:cs typeface="Times New Roman" panose="02020603050405020304" pitchFamily="18" charset="0"/>
              </a:rPr>
              <a:t>🏆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61475" y="5729089"/>
            <a:ext cx="19050" cy="551259"/>
          </a:xfrm>
          <a:prstGeom prst="roundRect">
            <a:avLst>
              <a:gd name="adj" fmla="val 49999"/>
            </a:avLst>
          </a:prstGeom>
          <a:solidFill>
            <a:srgbClr val="373B48"/>
          </a:solidFill>
          <a:ln/>
        </p:spPr>
        <p:txBody>
          <a:bodyPr/>
          <a:lstStyle/>
          <a:p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731</Words>
  <Application>Microsoft Office PowerPoint</Application>
  <PresentationFormat>Widescreen</PresentationFormat>
  <Paragraphs>131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Times New Roman</vt:lpstr>
      <vt:lpstr>Funnel Sans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Raunika Gulati</cp:lastModifiedBy>
  <cp:revision>4</cp:revision>
  <dcterms:created xsi:type="dcterms:W3CDTF">2026-10-05T06:28:10Z</dcterms:created>
  <dcterms:modified xsi:type="dcterms:W3CDTF">2026-10-05T09:06:05Z</dcterms:modified>
</cp:coreProperties>
</file>